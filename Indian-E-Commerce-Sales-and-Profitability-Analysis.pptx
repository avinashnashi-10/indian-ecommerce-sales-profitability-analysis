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Marcellus"/>
      <p:regular r:id="rId201314"/>
    </p:embeddedFont>
    <p:embeddedFont>
      <p:font typeface="Montserrat"/>
      <p:regular r:id="rId201315"/>
    </p:embeddedFont>
    <p:embeddedFont>
      <p:font typeface="Montserrat SemiBold"/>
      <p:regular r:id="rId201316"/>
    </p:embeddedFont>
    <p:embeddedFont>
      <p:font typeface="Montserrat Bold"/>
      <p:regular r:id="rId201317"/>
    </p:embeddedFont>
    <p:embeddedFont>
      <p:font typeface="Montserrat Black"/>
      <p:regular r:id="rId2013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91215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661475" y="1983184"/>
            <a:ext cx="6296860" cy="141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250" spc="-43" kern="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Indian E-Commerce Sales &amp; Profitability Analysis</a:t>
            </a:r>
            <a:endParaRPr lang="en-US" sz="4250" dirty="0"/>
          </a:p>
        </p:txBody>
      </p:sp>
      <p:sp>
        <p:nvSpPr>
          <p:cNvPr id="4" name="Text 1"/>
          <p:cNvSpPr/>
          <p:nvPr/>
        </p:nvSpPr>
        <p:spPr>
          <a:xfrm>
            <a:off x="661475" y="3679527"/>
            <a:ext cx="6296860" cy="11952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End-to-end analytics project: </a:t>
            </a:r>
            <a:pPr algn="l" indent="0" marL="0">
              <a:lnSpc>
                <a:spcPct val="108000"/>
              </a:lnSpc>
              <a:spcAft>
                <a:spcPts val="1650"/>
              </a:spcAft>
              <a:buNone/>
            </a:pPr>
            <a:r>
              <a:rPr lang="en-US" sz="1450" b="1" dirty="0">
                <a:solidFill>
                  <a:srgbClr val="67534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Python · Pandas · MySQL · SQL · Power BI · DAX</a:t>
            </a:r>
            <a:endParaRPr lang="en-US" sz="14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April 2018 – March 2019 · 332 customers · 5,615 units · ₹431,502 revenue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781248"/>
            <a:ext cx="1935511" cy="287139"/>
          </a:xfrm>
          <a:prstGeom prst="roundRect">
            <a:avLst>
              <a:gd name="adj" fmla="val 22118"/>
            </a:avLst>
          </a:prstGeom>
          <a:solidFill>
            <a:srgbClr val="FFE0CC"/>
          </a:solidFill>
          <a:ln/>
        </p:spPr>
      </p:sp>
      <p:sp>
        <p:nvSpPr>
          <p:cNvPr id="3" name="Text 1"/>
          <p:cNvSpPr/>
          <p:nvPr/>
        </p:nvSpPr>
        <p:spPr>
          <a:xfrm>
            <a:off x="774879" y="837902"/>
            <a:ext cx="2318287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EXECUTIVE SUMMARY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143992"/>
            <a:ext cx="10868745" cy="706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250" spc="-43" kern="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Project at a Glance</a:t>
            </a:r>
            <a:endParaRPr lang="en-US" sz="4250" dirty="0"/>
          </a:p>
        </p:txBody>
      </p:sp>
      <p:sp>
        <p:nvSpPr>
          <p:cNvPr id="5" name="Text 3"/>
          <p:cNvSpPr/>
          <p:nvPr/>
        </p:nvSpPr>
        <p:spPr>
          <a:xfrm>
            <a:off x="661475" y="2228354"/>
            <a:ext cx="3465426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900" spc="-49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₹431K</a:t>
            </a:r>
            <a:endParaRPr lang="en-US" sz="4900" dirty="0"/>
          </a:p>
        </p:txBody>
      </p:sp>
      <p:sp>
        <p:nvSpPr>
          <p:cNvPr id="6" name="Text 4"/>
          <p:cNvSpPr/>
          <p:nvPr/>
        </p:nvSpPr>
        <p:spPr>
          <a:xfrm>
            <a:off x="661475" y="3088283"/>
            <a:ext cx="3465426" cy="353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2100" spc="-21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Total Revenue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4363135" y="2228354"/>
            <a:ext cx="3465426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900" spc="-49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₹24K</a:t>
            </a:r>
            <a:endParaRPr lang="en-US" sz="4900" dirty="0"/>
          </a:p>
        </p:txBody>
      </p:sp>
      <p:sp>
        <p:nvSpPr>
          <p:cNvPr id="8" name="Text 6"/>
          <p:cNvSpPr/>
          <p:nvPr/>
        </p:nvSpPr>
        <p:spPr>
          <a:xfrm>
            <a:off x="4363135" y="3088283"/>
            <a:ext cx="3465426" cy="353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2100" spc="-21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Total Profit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8064794" y="2228354"/>
            <a:ext cx="3465426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900" spc="-49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5.55%</a:t>
            </a:r>
            <a:endParaRPr lang="en-US" sz="4900" dirty="0"/>
          </a:p>
        </p:txBody>
      </p:sp>
      <p:sp>
        <p:nvSpPr>
          <p:cNvPr id="10" name="Text 8"/>
          <p:cNvSpPr/>
          <p:nvPr/>
        </p:nvSpPr>
        <p:spPr>
          <a:xfrm>
            <a:off x="8064794" y="3088283"/>
            <a:ext cx="3465426" cy="353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2100" spc="-21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Profit Margin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2512255" y="3913981"/>
            <a:ext cx="3465426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900" spc="-49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5,615</a:t>
            </a:r>
            <a:endParaRPr lang="en-US" sz="4900" dirty="0"/>
          </a:p>
        </p:txBody>
      </p:sp>
      <p:sp>
        <p:nvSpPr>
          <p:cNvPr id="12" name="Text 10"/>
          <p:cNvSpPr/>
          <p:nvPr/>
        </p:nvSpPr>
        <p:spPr>
          <a:xfrm>
            <a:off x="2512255" y="4773910"/>
            <a:ext cx="3465426" cy="353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2100" spc="-21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Units Sold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6213915" y="3913981"/>
            <a:ext cx="3465426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900" spc="-49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332</a:t>
            </a:r>
            <a:endParaRPr lang="en-US" sz="4900" dirty="0"/>
          </a:p>
        </p:txBody>
      </p:sp>
      <p:sp>
        <p:nvSpPr>
          <p:cNvPr id="14" name="Text 12"/>
          <p:cNvSpPr/>
          <p:nvPr/>
        </p:nvSpPr>
        <p:spPr>
          <a:xfrm>
            <a:off x="6213915" y="4773910"/>
            <a:ext cx="3465426" cy="353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2100" spc="-21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Customers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661475" y="5339755"/>
            <a:ext cx="10868745" cy="736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Revenue alone is </a:t>
            </a:r>
            <a:pPr algn="l" indent="0" marL="0">
              <a:lnSpc>
                <a:spcPct val="108000"/>
              </a:lnSpc>
              <a:buNone/>
            </a:pPr>
            <a:r>
              <a:rPr lang="en-US" sz="1450" b="1" dirty="0">
                <a:solidFill>
                  <a:srgbClr val="67534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not</a:t>
            </a:r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sufficient for decision-making. Electronics leads revenue, but Clothing leads profit. Furniture's 1.81% margin needs attention. Tables lost ₹4,011 — the worst sub-category. Repeat customers deliver </a:t>
            </a:r>
            <a:pPr algn="l" indent="0" marL="0">
              <a:lnSpc>
                <a:spcPct val="108000"/>
              </a:lnSpc>
              <a:buNone/>
            </a:pPr>
            <a:r>
              <a:rPr lang="en-US" sz="1450" b="1" dirty="0">
                <a:solidFill>
                  <a:srgbClr val="67534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5.79× more profit per customer</a:t>
            </a:r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than one-time buyers.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81633"/>
            <a:ext cx="2913684" cy="287139"/>
          </a:xfrm>
          <a:prstGeom prst="roundRect">
            <a:avLst>
              <a:gd name="adj" fmla="val 22118"/>
            </a:avLst>
          </a:prstGeom>
          <a:solidFill>
            <a:srgbClr val="FFE0CC"/>
          </a:solidFill>
          <a:ln/>
        </p:spPr>
      </p:sp>
      <p:sp>
        <p:nvSpPr>
          <p:cNvPr id="3" name="Text 1"/>
          <p:cNvSpPr/>
          <p:nvPr/>
        </p:nvSpPr>
        <p:spPr>
          <a:xfrm>
            <a:off x="774879" y="738287"/>
            <a:ext cx="3296461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BUSINESS PROBLEM &amp; APPROACH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044377"/>
            <a:ext cx="10868745" cy="706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250" spc="-43" kern="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From Raw Data to Business Insights</a:t>
            </a:r>
            <a:endParaRPr lang="en-US" sz="4250" dirty="0"/>
          </a:p>
        </p:txBody>
      </p:sp>
      <p:sp>
        <p:nvSpPr>
          <p:cNvPr id="5" name="Text 3"/>
          <p:cNvSpPr/>
          <p:nvPr/>
        </p:nvSpPr>
        <p:spPr>
          <a:xfrm>
            <a:off x="661475" y="2034282"/>
            <a:ext cx="10868745" cy="491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business needed clarity on </a:t>
            </a:r>
            <a:pPr algn="l" indent="0" marL="0">
              <a:lnSpc>
                <a:spcPct val="108000"/>
              </a:lnSpc>
              <a:buNone/>
            </a:pPr>
            <a:r>
              <a:rPr lang="en-US" sz="1450" b="1" dirty="0">
                <a:solidFill>
                  <a:srgbClr val="67534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where sales and profit come from</a:t>
            </a:r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which customers are valuable, and whether targets are being met.</a:t>
            </a:r>
            <a:endParaRPr lang="en-US" sz="14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738239"/>
            <a:ext cx="10868745" cy="297983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71672" y="3815009"/>
            <a:ext cx="1642425" cy="7031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2100" spc="-21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Raw Data &amp; Cleaning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1971672" y="4601850"/>
            <a:ext cx="1642425" cy="941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Ingest and clean source datasets using Python/Pandas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4188366" y="3369306"/>
            <a:ext cx="1642425" cy="351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2100" spc="-21" kern="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SQL Analysis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4188366" y="3804552"/>
            <a:ext cx="1642425" cy="9410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Transform and probe data with MySQL views &amp; procedures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6446884" y="3815009"/>
            <a:ext cx="1642425" cy="7031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2100" spc="-21" kern="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Power BI Modeling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6446884" y="4601850"/>
            <a:ext cx="1642425" cy="941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Build DAX measures and a robust data model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8684489" y="3252979"/>
            <a:ext cx="1642425" cy="7031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2100" spc="-21" kern="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Dashboard &amp; Insights</a:t>
            </a:r>
            <a:endParaRPr lang="en-US" sz="2100" dirty="0"/>
          </a:p>
        </p:txBody>
      </p:sp>
      <p:sp>
        <p:nvSpPr>
          <p:cNvPr id="14" name="Text 11"/>
          <p:cNvSpPr/>
          <p:nvPr/>
        </p:nvSpPr>
        <p:spPr>
          <a:xfrm>
            <a:off x="8684489" y="4039820"/>
            <a:ext cx="1642425" cy="705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Visualize KPIs and derive business insights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661475" y="5930702"/>
            <a:ext cx="11478330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Three datasets cleaned and validated: List of Orders (500 rows), Order Details (1,500 rows), Sales Target (36 records).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44016"/>
            <a:ext cx="2224627" cy="282674"/>
          </a:xfrm>
          <a:prstGeom prst="roundRect">
            <a:avLst>
              <a:gd name="adj" fmla="val 22117"/>
            </a:avLst>
          </a:prstGeom>
          <a:solidFill>
            <a:srgbClr val="FFE0CC"/>
          </a:solidFill>
          <a:ln/>
        </p:spPr>
      </p:sp>
      <p:sp>
        <p:nvSpPr>
          <p:cNvPr id="3" name="Text 1"/>
          <p:cNvSpPr/>
          <p:nvPr/>
        </p:nvSpPr>
        <p:spPr>
          <a:xfrm>
            <a:off x="773093" y="599777"/>
            <a:ext cx="2610975" cy="171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CATEGORY PROFITABILITY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899914"/>
            <a:ext cx="10868745" cy="695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200" spc="-42" kern="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Revenue Leader ≠ Profit Leader</a:t>
            </a:r>
            <a:endParaRPr lang="en-US" sz="4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076053"/>
            <a:ext cx="5207465" cy="374838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329105" y="2053233"/>
            <a:ext cx="5207465" cy="347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spc="-21" kern="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Key Findings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6329105" y="2584053"/>
            <a:ext cx="5207465" cy="21756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07000"/>
              </a:lnSpc>
              <a:buSzPct val="100000"/>
              <a:buChar char="•"/>
            </a:pPr>
            <a:r>
              <a:rPr lang="en-US" sz="1450" b="1" dirty="0">
                <a:solidFill>
                  <a:srgbClr val="67534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Electronics</a:t>
            </a:r>
            <a:pPr algn="l" marL="294640" indent="-294640">
              <a:lnSpc>
                <a:spcPct val="107000"/>
              </a:lnSpc>
              <a:buSzPct val="100000"/>
              <a:buChar char="•"/>
            </a:pPr>
            <a:r>
              <a:rPr 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: highest revenue (₹165K) but not highest profit</a:t>
            </a:r>
            <a:endParaRPr lang="en-US" sz="1450" dirty="0"/>
          </a:p>
          <a:p>
            <a:pPr algn="l" marL="294640" indent="-294640">
              <a:lnSpc>
                <a:spcPct val="107000"/>
              </a:lnSpc>
              <a:buSzPct val="100000"/>
              <a:buChar char="•"/>
            </a:pPr>
            <a:r>
              <a:rPr lang="en-US" sz="1450" b="1" dirty="0">
                <a:solidFill>
                  <a:srgbClr val="67534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Clothing</a:t>
            </a:r>
            <a:pPr algn="l" marL="294640" indent="-294640">
              <a:lnSpc>
                <a:spcPct val="107000"/>
              </a:lnSpc>
              <a:buSzPct val="100000"/>
              <a:buChar char="•"/>
            </a:pPr>
            <a:r>
              <a:rPr 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: profit leader (₹11.2K) and best margin (8.03%)</a:t>
            </a:r>
            <a:endParaRPr lang="en-US" sz="1450" dirty="0"/>
          </a:p>
          <a:p>
            <a:pPr algn="l" marL="294640" indent="-294640">
              <a:lnSpc>
                <a:spcPct val="107000"/>
              </a:lnSpc>
              <a:buSzPct val="100000"/>
              <a:buChar char="•"/>
            </a:pPr>
            <a:r>
              <a:rPr lang="en-US" sz="1450" b="1" dirty="0">
                <a:solidFill>
                  <a:srgbClr val="67534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Furniture</a:t>
            </a:r>
            <a:pPr algn="l" marL="294640" indent="-294640">
              <a:lnSpc>
                <a:spcPct val="107000"/>
              </a:lnSpc>
              <a:buSzPct val="100000"/>
              <a:buChar char="•"/>
            </a:pPr>
            <a:r>
              <a:rPr 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: ₹127K revenue but only 1.81% margin</a:t>
            </a:r>
            <a:endParaRPr lang="en-US" sz="1450" dirty="0"/>
          </a:p>
          <a:p>
            <a:pPr algn="l" marL="294640" indent="-294640">
              <a:lnSpc>
                <a:spcPct val="107000"/>
              </a:lnSpc>
              <a:buSzPct val="100000"/>
              <a:buChar char="•"/>
            </a:pPr>
            <a:r>
              <a:rPr lang="en-US" sz="1450" b="1" dirty="0">
                <a:solidFill>
                  <a:srgbClr val="67534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Tables</a:t>
            </a:r>
            <a:pPr algn="l" marL="294640" indent="-294640">
              <a:lnSpc>
                <a:spcPct val="107000"/>
              </a:lnSpc>
              <a:buSzPct val="100000"/>
              <a:buChar char="•"/>
            </a:pPr>
            <a:r>
              <a:rPr 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: worst sub-category — ₹22,614 revenue, −₹4,011 profit</a:t>
            </a:r>
            <a:endParaRPr lang="en-US" sz="1450" dirty="0"/>
          </a:p>
          <a:p>
            <a:pPr algn="l" marL="294640" indent="-294640">
              <a:lnSpc>
                <a:spcPct val="107000"/>
              </a:lnSpc>
              <a:buSzPct val="100000"/>
              <a:buChar char="•"/>
            </a:pPr>
            <a:r>
              <a:rPr lang="en-US" sz="1450" b="1" dirty="0">
                <a:solidFill>
                  <a:srgbClr val="67534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Electronic Games</a:t>
            </a:r>
            <a:pPr algn="l" marL="294640" indent="-294640">
              <a:lnSpc>
                <a:spcPct val="107000"/>
              </a:lnSpc>
              <a:buSzPct val="100000"/>
              <a:buChar char="•"/>
            </a:pPr>
            <a:r>
              <a:rPr 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: also loss-making at −₹1,236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329105" y="4965700"/>
            <a:ext cx="5207465" cy="1142206"/>
          </a:xfrm>
          <a:prstGeom prst="roundRect">
            <a:avLst>
              <a:gd name="adj" fmla="val 6842"/>
            </a:avLst>
          </a:prstGeom>
          <a:solidFill>
            <a:srgbClr val="FFE0CC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5135" y="5216624"/>
            <a:ext cx="232563" cy="18603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933729" y="5176937"/>
            <a:ext cx="4416811" cy="7197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High volume ≠ high profit. Saree sold 782 units but earned only ₹352 profit; Printers sold 291 units and earned ₹5,964.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67147"/>
            <a:ext cx="2863977" cy="287139"/>
          </a:xfrm>
          <a:prstGeom prst="roundRect">
            <a:avLst>
              <a:gd name="adj" fmla="val 22118"/>
            </a:avLst>
          </a:prstGeom>
          <a:solidFill>
            <a:srgbClr val="FFE0CC"/>
          </a:solidFill>
          <a:ln/>
        </p:spPr>
      </p:sp>
      <p:sp>
        <p:nvSpPr>
          <p:cNvPr id="3" name="Text 1"/>
          <p:cNvSpPr/>
          <p:nvPr/>
        </p:nvSpPr>
        <p:spPr>
          <a:xfrm>
            <a:off x="774879" y="723801"/>
            <a:ext cx="3246753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GEOGRAPHY &amp; MONTHLY TRENDS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029891"/>
            <a:ext cx="10868745" cy="706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250" spc="-43" kern="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Where and When Performance Varied</a:t>
            </a:r>
            <a:endParaRPr lang="en-US" sz="42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232422"/>
            <a:ext cx="5203794" cy="374580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332776" y="2208808"/>
            <a:ext cx="5203794" cy="353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spc="-21" kern="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Geography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6332776" y="2751038"/>
            <a:ext cx="5203794" cy="736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b="1" dirty="0">
                <a:solidFill>
                  <a:srgbClr val="67534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Madhya Pradesh</a:t>
            </a:r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led revenue (₹105K); </a:t>
            </a:r>
            <a:pPr algn="l" indent="0" marL="0">
              <a:lnSpc>
                <a:spcPct val="108000"/>
              </a:lnSpc>
              <a:buNone/>
            </a:pPr>
            <a:r>
              <a:rPr lang="en-US" sz="1450" b="1" dirty="0">
                <a:solidFill>
                  <a:srgbClr val="67534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Maharashtra</a:t>
            </a:r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led profit (₹6,176). West Bengal had the highest state margin at </a:t>
            </a:r>
            <a:pPr algn="l" indent="0" marL="0">
              <a:lnSpc>
                <a:spcPct val="108000"/>
              </a:lnSpc>
              <a:buNone/>
            </a:pPr>
            <a:r>
              <a:rPr lang="en-US" sz="1450" b="1" dirty="0">
                <a:solidFill>
                  <a:srgbClr val="67534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17.75%</a:t>
            </a:r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6332776" y="3677047"/>
            <a:ext cx="5203794" cy="353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spc="-21" kern="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Monthly Performance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6332776" y="4219277"/>
            <a:ext cx="5203794" cy="9826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b="1" dirty="0">
                <a:solidFill>
                  <a:srgbClr val="67534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June 2018</a:t>
            </a:r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was the worst profit month (−₹4,970). </a:t>
            </a:r>
            <a:pPr algn="l" indent="0" marL="0">
              <a:lnSpc>
                <a:spcPct val="108000"/>
              </a:lnSpc>
              <a:buNone/>
            </a:pPr>
            <a:r>
              <a:rPr lang="en-US" sz="1450" b="1" dirty="0">
                <a:solidFill>
                  <a:srgbClr val="67534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November 2018</a:t>
            </a:r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peaked at ₹11,619 profit. Losses concentrated in Apr–Sep 2018; recovery began Oct 2018.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740569"/>
            <a:ext cx="1775574" cy="269180"/>
          </a:xfrm>
          <a:prstGeom prst="roundRect">
            <a:avLst>
              <a:gd name="adj" fmla="val 22119"/>
            </a:avLst>
          </a:prstGeom>
          <a:solidFill>
            <a:srgbClr val="FFE0CC"/>
          </a:solidFill>
          <a:ln/>
        </p:spPr>
      </p:sp>
      <p:sp>
        <p:nvSpPr>
          <p:cNvPr id="3" name="Text 1"/>
          <p:cNvSpPr/>
          <p:nvPr/>
        </p:nvSpPr>
        <p:spPr>
          <a:xfrm>
            <a:off x="767735" y="793651"/>
            <a:ext cx="2172638" cy="163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CUSTOMER ANALYSIS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61475" y="1076127"/>
            <a:ext cx="10868745" cy="662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000" spc="-40" kern="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Repeat Customers Drive Disproportionate Value</a:t>
            </a:r>
            <a:endParaRPr lang="en-US" sz="4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174379"/>
            <a:ext cx="5218280" cy="375622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318290" y="2153642"/>
            <a:ext cx="5218280" cy="3310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spc="-20" kern="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Customer Breakdown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6318290" y="2650827"/>
            <a:ext cx="5218280" cy="9507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74320" indent="-274320">
              <a:lnSpc>
                <a:spcPct val="105000"/>
              </a:lnSpc>
              <a:buSzPct val="100000"/>
              <a:buChar char="•"/>
            </a:pPr>
            <a:r>
              <a:rPr lang="en-US" sz="1350" b="1" dirty="0">
                <a:solidFill>
                  <a:srgbClr val="67534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229 one-time customers</a:t>
            </a:r>
            <a:pPr algn="l" marL="274320" indent="-274320">
              <a:lnSpc>
                <a:spcPct val="105000"/>
              </a:lnSpc>
              <a:buSzPct val="100000"/>
              <a:buChar char="•"/>
            </a:pPr>
            <a:r>
              <a:rPr lang="en-US" sz="13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: ₹837 avg revenue, ₹29 avg profit per customer</a:t>
            </a:r>
            <a:endParaRPr lang="en-US" sz="1350" dirty="0"/>
          </a:p>
          <a:p>
            <a:pPr algn="l" marL="274320" indent="-274320">
              <a:lnSpc>
                <a:spcPct val="105000"/>
              </a:lnSpc>
              <a:buSzPct val="100000"/>
              <a:buChar char="•"/>
            </a:pPr>
            <a:r>
              <a:rPr lang="en-US" sz="1350" b="1" dirty="0">
                <a:solidFill>
                  <a:srgbClr val="67534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103 repeat customers</a:t>
            </a:r>
            <a:pPr algn="l" marL="274320" indent="-274320">
              <a:lnSpc>
                <a:spcPct val="105000"/>
              </a:lnSpc>
              <a:buSzPct val="100000"/>
              <a:buChar char="•"/>
            </a:pPr>
            <a:r>
              <a:rPr lang="en-US" sz="13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: ₹2,329 avg revenue, ₹168 avg profit per customer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318290" y="3788370"/>
            <a:ext cx="5218280" cy="1056779"/>
          </a:xfrm>
          <a:prstGeom prst="roundRect">
            <a:avLst>
              <a:gd name="adj" fmla="val 7043"/>
            </a:avLst>
          </a:prstGeom>
          <a:solidFill>
            <a:srgbClr val="FFE0CC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5491" y="4015085"/>
            <a:ext cx="221451" cy="17720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94142" y="3982045"/>
            <a:ext cx="4465228" cy="6694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Repeat customers generate </a:t>
            </a:r>
            <a:pPr algn="l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2.78× more revenue</a:t>
            </a:r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and </a:t>
            </a:r>
            <a:pPr algn="l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5.79× more profit</a:t>
            </a:r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per customer — an observed association, not a causal claim.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6318290" y="5031978"/>
            <a:ext cx="5218280" cy="6694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Top revenue customer: </a:t>
            </a:r>
            <a:pPr algn="l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67534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Yaanvi</a:t>
            </a:r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(₹9,177). Worst loss customer: </a:t>
            </a:r>
            <a:pPr algn="l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67534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Shishu</a:t>
            </a:r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(−₹1,836), largely from one Bookcases transaction.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67147"/>
            <a:ext cx="1716938" cy="287139"/>
          </a:xfrm>
          <a:prstGeom prst="roundRect">
            <a:avLst>
              <a:gd name="adj" fmla="val 22118"/>
            </a:avLst>
          </a:prstGeom>
          <a:solidFill>
            <a:srgbClr val="FFE0CC"/>
          </a:solidFill>
          <a:ln/>
        </p:spPr>
      </p:sp>
      <p:sp>
        <p:nvSpPr>
          <p:cNvPr id="3" name="Text 1"/>
          <p:cNvSpPr/>
          <p:nvPr/>
        </p:nvSpPr>
        <p:spPr>
          <a:xfrm>
            <a:off x="774879" y="723801"/>
            <a:ext cx="2099714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TARGET VS ACTUAL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029891"/>
            <a:ext cx="10868745" cy="706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250" spc="-43" kern="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Sales Target Achievement by Category</a:t>
            </a:r>
            <a:endParaRPr lang="en-US" sz="42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232422"/>
            <a:ext cx="5203794" cy="374580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332776" y="2208808"/>
            <a:ext cx="5203794" cy="353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spc="-21" kern="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Target Results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6332776" y="2751038"/>
            <a:ext cx="5203794" cy="1360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08000"/>
              </a:lnSpc>
              <a:buSzPct val="100000"/>
              <a:buChar char="•"/>
            </a:pPr>
            <a:r>
              <a:rPr lang="en-US" sz="1450" b="1" dirty="0">
                <a:solidFill>
                  <a:srgbClr val="67534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Electronics</a:t>
            </a:r>
            <a:pPr algn="l" marL="294640" indent="-294640">
              <a:lnSpc>
                <a:spcPct val="108000"/>
              </a:lnSpc>
              <a:buSzPct val="100000"/>
              <a:buChar char="•"/>
            </a:pPr>
            <a:r>
              <a:rPr 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: exceeded target by ₹36.27K (128.11%) — strongest in December at 206.22%</a:t>
            </a:r>
            <a:endParaRPr lang="en-US" sz="1450" dirty="0"/>
          </a:p>
          <a:p>
            <a:pPr algn="l" marL="294640" indent="-294640">
              <a:lnSpc>
                <a:spcPct val="108000"/>
              </a:lnSpc>
              <a:buSzPct val="100000"/>
              <a:buChar char="•"/>
            </a:pPr>
            <a:r>
              <a:rPr lang="en-US" sz="1450" b="1" dirty="0">
                <a:solidFill>
                  <a:srgbClr val="67534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Furniture</a:t>
            </a:r>
            <a:pPr algn="l" marL="294640" indent="-294640">
              <a:lnSpc>
                <a:spcPct val="108000"/>
              </a:lnSpc>
              <a:buSzPct val="100000"/>
              <a:buChar char="•"/>
            </a:pPr>
            <a:r>
              <a:rPr 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: missed by ₹5.72K (95.70%)</a:t>
            </a:r>
            <a:endParaRPr lang="en-US" sz="1450" dirty="0"/>
          </a:p>
          <a:p>
            <a:pPr algn="l" marL="294640" indent="-294640">
              <a:lnSpc>
                <a:spcPct val="108000"/>
              </a:lnSpc>
              <a:buSzPct val="100000"/>
              <a:buChar char="•"/>
            </a:pPr>
            <a:r>
              <a:rPr lang="en-US" sz="1450" b="1" dirty="0">
                <a:solidFill>
                  <a:srgbClr val="67534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Clothing</a:t>
            </a:r>
            <a:pPr algn="l" marL="294640" indent="-294640">
              <a:lnSpc>
                <a:spcPct val="108000"/>
              </a:lnSpc>
              <a:buSzPct val="100000"/>
              <a:buChar char="•"/>
            </a:pPr>
            <a:r>
              <a:rPr 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: largest shortfall at −₹34.95K (79.92%) — worst month was July at only 21.29%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332776" y="4324152"/>
            <a:ext cx="5203794" cy="1417241"/>
          </a:xfrm>
          <a:prstGeom prst="roundRect">
            <a:avLst>
              <a:gd name="adj" fmla="val 5602"/>
            </a:avLst>
          </a:prstGeom>
          <a:solidFill>
            <a:srgbClr val="FCF2B5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1783" y="4585494"/>
            <a:ext cx="236234" cy="18901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947024" y="4541441"/>
            <a:ext cx="4400539" cy="9826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Critical grain lesson: Target values must be aggregated to </a:t>
            </a:r>
            <a:pPr algn="l" indent="0" marL="0">
              <a:lnSpc>
                <a:spcPct val="108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month + category</a:t>
            </a:r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before joining. Direct joins duplicate targets across transaction rows.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908348"/>
            <a:ext cx="1523069" cy="287139"/>
          </a:xfrm>
          <a:prstGeom prst="roundRect">
            <a:avLst>
              <a:gd name="adj" fmla="val 22118"/>
            </a:avLst>
          </a:prstGeom>
          <a:solidFill>
            <a:srgbClr val="FFE0CC"/>
          </a:solidFill>
          <a:ln/>
        </p:spPr>
      </p:sp>
      <p:sp>
        <p:nvSpPr>
          <p:cNvPr id="3" name="Text 1"/>
          <p:cNvSpPr/>
          <p:nvPr/>
        </p:nvSpPr>
        <p:spPr>
          <a:xfrm>
            <a:off x="774879" y="965002"/>
            <a:ext cx="1905845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SQL &amp; POWER BI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271091"/>
            <a:ext cx="10868745" cy="706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250" spc="-43" kern="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Technical Implementation</a:t>
            </a:r>
            <a:endParaRPr lang="en-US" sz="4250" dirty="0"/>
          </a:p>
        </p:txBody>
      </p:sp>
      <p:sp>
        <p:nvSpPr>
          <p:cNvPr id="5" name="Text 3"/>
          <p:cNvSpPr/>
          <p:nvPr/>
        </p:nvSpPr>
        <p:spPr>
          <a:xfrm>
            <a:off x="661475" y="2450009"/>
            <a:ext cx="5203794" cy="353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spc="-21" kern="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SQL Techniques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661475" y="2992239"/>
            <a:ext cx="5203794" cy="11148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08000"/>
              </a:lnSpc>
              <a:buSzPct val="100000"/>
              <a:buChar char="•"/>
            </a:pPr>
            <a:r>
              <a:rPr 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Views: </a:t>
            </a:r>
            <a:pPr algn="l" marL="294640" indent="-294640">
              <a:lnSpc>
                <a:spcPct val="108000"/>
              </a:lnSpc>
              <a:buSzPct val="100000"/>
              <a:buChar char="•"/>
            </a:pPr>
            <a:r>
              <a:rPr lang="en-US" sz="1450" dirty="0">
                <a:solidFill>
                  <a:srgbClr val="67534F"/>
                </a:solidFill>
                <a:highlight>
                  <a:srgbClr val="F2F2E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category_performance</a:t>
            </a:r>
            <a:pPr algn="l" marL="294640" indent="-294640">
              <a:lnSpc>
                <a:spcPct val="108000"/>
              </a:lnSpc>
              <a:buSzPct val="100000"/>
              <a:buChar char="•"/>
            </a:pPr>
            <a:r>
              <a:rPr 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</a:t>
            </a:r>
            <a:pPr algn="l" marL="294640" indent="-294640">
              <a:lnSpc>
                <a:spcPct val="108000"/>
              </a:lnSpc>
              <a:buSzPct val="100000"/>
              <a:buChar char="•"/>
            </a:pPr>
            <a:r>
              <a:rPr lang="en-US" sz="1450" dirty="0">
                <a:solidFill>
                  <a:srgbClr val="67534F"/>
                </a:solidFill>
                <a:highlight>
                  <a:srgbClr val="F2F2E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state_performance</a:t>
            </a:r>
            <a:pPr algn="l" marL="294640" indent="-294640">
              <a:lnSpc>
                <a:spcPct val="108000"/>
              </a:lnSpc>
              <a:buSzPct val="100000"/>
              <a:buChar char="•"/>
            </a:pPr>
            <a:r>
              <a:rPr 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</a:t>
            </a:r>
            <a:pPr algn="l" marL="294640" indent="-294640">
              <a:lnSpc>
                <a:spcPct val="108000"/>
              </a:lnSpc>
              <a:buSzPct val="100000"/>
              <a:buChar char="•"/>
            </a:pPr>
            <a:r>
              <a:rPr lang="en-US" sz="1450" dirty="0">
                <a:solidFill>
                  <a:srgbClr val="67534F"/>
                </a:solidFill>
                <a:highlight>
                  <a:srgbClr val="F2F2E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target_vs_actual</a:t>
            </a:r>
            <a:endParaRPr lang="en-US" sz="1450" dirty="0"/>
          </a:p>
          <a:p>
            <a:pPr algn="l" marL="294640" indent="-294640">
              <a:lnSpc>
                <a:spcPct val="108000"/>
              </a:lnSpc>
              <a:buSzPct val="100000"/>
              <a:buChar char="•"/>
            </a:pPr>
            <a:r>
              <a:rPr 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Stored procedures: </a:t>
            </a:r>
            <a:pPr algn="l" marL="294640" indent="-294640">
              <a:lnSpc>
                <a:spcPct val="108000"/>
              </a:lnSpc>
              <a:buSzPct val="100000"/>
              <a:buChar char="•"/>
            </a:pPr>
            <a:r>
              <a:rPr lang="en-US" sz="1450" dirty="0">
                <a:solidFill>
                  <a:srgbClr val="67534F"/>
                </a:solidFill>
                <a:highlight>
                  <a:srgbClr val="F2F2E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GetSalesByState</a:t>
            </a:r>
            <a:pPr algn="l" marL="294640" indent="-294640">
              <a:lnSpc>
                <a:spcPct val="108000"/>
              </a:lnSpc>
              <a:buSzPct val="100000"/>
              <a:buChar char="•"/>
            </a:pPr>
            <a:r>
              <a:rPr 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</a:t>
            </a:r>
            <a:pPr algn="l" marL="294640" indent="-294640">
              <a:lnSpc>
                <a:spcPct val="108000"/>
              </a:lnSpc>
              <a:buSzPct val="100000"/>
              <a:buChar char="•"/>
            </a:pPr>
            <a:r>
              <a:rPr lang="en-US" sz="1450" dirty="0">
                <a:solidFill>
                  <a:srgbClr val="67534F"/>
                </a:solidFill>
                <a:highlight>
                  <a:srgbClr val="F2F2E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GetSalesByDate</a:t>
            </a:r>
            <a:endParaRPr lang="en-US" sz="1450" dirty="0"/>
          </a:p>
          <a:p>
            <a:pPr algn="l" marL="294640" indent="-294640">
              <a:lnSpc>
                <a:spcPct val="108000"/>
              </a:lnSpc>
              <a:buSzPct val="100000"/>
              <a:buChar char="•"/>
            </a:pPr>
            <a:r>
              <a:rPr 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CTEs for grain-aware target aggregation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61475" y="4296073"/>
            <a:ext cx="5203794" cy="353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spc="-21" kern="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DAX Measures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661475" y="4838303"/>
            <a:ext cx="5203794" cy="8691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08000"/>
              </a:lnSpc>
              <a:buSzPct val="100000"/>
              <a:buChar char="•"/>
            </a:pPr>
            <a:r>
              <a:rPr lang="en-US" sz="1450" dirty="0">
                <a:solidFill>
                  <a:srgbClr val="67534F"/>
                </a:solidFill>
                <a:highlight>
                  <a:srgbClr val="F2F2E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Total Revenue</a:t>
            </a:r>
            <a:pPr algn="l" marL="294640" indent="-294640">
              <a:lnSpc>
                <a:spcPct val="108000"/>
              </a:lnSpc>
              <a:buSzPct val="100000"/>
              <a:buChar char="•"/>
            </a:pPr>
            <a:r>
              <a:rPr 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</a:t>
            </a:r>
            <a:pPr algn="l" marL="294640" indent="-294640">
              <a:lnSpc>
                <a:spcPct val="108000"/>
              </a:lnSpc>
              <a:buSzPct val="100000"/>
              <a:buChar char="•"/>
            </a:pPr>
            <a:r>
              <a:rPr lang="en-US" sz="1450" dirty="0">
                <a:solidFill>
                  <a:srgbClr val="67534F"/>
                </a:solidFill>
                <a:highlight>
                  <a:srgbClr val="F2F2E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Total Profit</a:t>
            </a:r>
            <a:pPr algn="l" marL="294640" indent="-294640">
              <a:lnSpc>
                <a:spcPct val="108000"/>
              </a:lnSpc>
              <a:buSzPct val="100000"/>
              <a:buChar char="•"/>
            </a:pPr>
            <a:r>
              <a:rPr 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</a:t>
            </a:r>
            <a:pPr algn="l" marL="294640" indent="-294640">
              <a:lnSpc>
                <a:spcPct val="108000"/>
              </a:lnSpc>
              <a:buSzPct val="100000"/>
              <a:buChar char="•"/>
            </a:pPr>
            <a:r>
              <a:rPr lang="en-US" sz="1450" dirty="0">
                <a:solidFill>
                  <a:srgbClr val="67534F"/>
                </a:solidFill>
                <a:highlight>
                  <a:srgbClr val="F2F2E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Profit Margin %</a:t>
            </a:r>
            <a:endParaRPr lang="en-US" sz="1450" dirty="0"/>
          </a:p>
          <a:p>
            <a:pPr algn="l" marL="294640" indent="-294640">
              <a:lnSpc>
                <a:spcPct val="108000"/>
              </a:lnSpc>
              <a:buSzPct val="100000"/>
              <a:buChar char="•"/>
            </a:pPr>
            <a:r>
              <a:rPr lang="en-US" sz="1450" dirty="0">
                <a:solidFill>
                  <a:srgbClr val="67534F"/>
                </a:solidFill>
                <a:highlight>
                  <a:srgbClr val="F2F2E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Target Achievement %</a:t>
            </a:r>
            <a:pPr algn="l" marL="294640" indent="-294640">
              <a:lnSpc>
                <a:spcPct val="108000"/>
              </a:lnSpc>
              <a:buSzPct val="100000"/>
              <a:buChar char="•"/>
            </a:pPr>
            <a:r>
              <a:rPr 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</a:t>
            </a:r>
            <a:pPr algn="l" marL="294640" indent="-294640">
              <a:lnSpc>
                <a:spcPct val="108000"/>
              </a:lnSpc>
              <a:buSzPct val="100000"/>
              <a:buChar char="•"/>
            </a:pPr>
            <a:r>
              <a:rPr lang="en-US" sz="1450" dirty="0">
                <a:solidFill>
                  <a:srgbClr val="67534F"/>
                </a:solidFill>
                <a:highlight>
                  <a:srgbClr val="F2F2E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Target Variance</a:t>
            </a:r>
            <a:endParaRPr lang="en-US" sz="1450" dirty="0"/>
          </a:p>
          <a:p>
            <a:pPr algn="l" marL="294640" indent="-294640">
              <a:lnSpc>
                <a:spcPct val="108000"/>
              </a:lnSpc>
              <a:buSzPct val="100000"/>
              <a:buChar char="•"/>
            </a:pPr>
            <a:r>
              <a:rPr lang="en-US" sz="1450" dirty="0">
                <a:solidFill>
                  <a:srgbClr val="67534F"/>
                </a:solidFill>
                <a:highlight>
                  <a:srgbClr val="F2F2E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DIVIDE()</a:t>
            </a:r>
            <a:pPr algn="l" marL="294640" indent="-294640">
              <a:lnSpc>
                <a:spcPct val="108000"/>
              </a:lnSpc>
              <a:buSzPct val="100000"/>
              <a:buChar char="•"/>
            </a:pPr>
            <a:r>
              <a:rPr 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used throughout for safe division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332776" y="2450009"/>
            <a:ext cx="5203794" cy="353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spc="-21" kern="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Power BI Data Model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6332776" y="2992239"/>
            <a:ext cx="5203794" cy="1360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08000"/>
              </a:lnSpc>
              <a:buSzPct val="100000"/>
              <a:buChar char="•"/>
            </a:pPr>
            <a:r>
              <a:rPr 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Bridge dimensions: </a:t>
            </a:r>
            <a:pPr algn="l" marL="294640" indent="-294640">
              <a:lnSpc>
                <a:spcPct val="108000"/>
              </a:lnSpc>
              <a:buSzPct val="100000"/>
              <a:buChar char="•"/>
            </a:pPr>
            <a:r>
              <a:rPr lang="en-US" sz="1450" b="1" dirty="0">
                <a:solidFill>
                  <a:srgbClr val="67534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MonthTable</a:t>
            </a:r>
            <a:pPr algn="l" marL="294640" indent="-294640">
              <a:lnSpc>
                <a:spcPct val="108000"/>
              </a:lnSpc>
              <a:buSzPct val="100000"/>
              <a:buChar char="•"/>
            </a:pPr>
            <a:r>
              <a:rPr 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and </a:t>
            </a:r>
            <a:pPr algn="l" marL="294640" indent="-294640">
              <a:lnSpc>
                <a:spcPct val="108000"/>
              </a:lnSpc>
              <a:buSzPct val="100000"/>
              <a:buChar char="•"/>
            </a:pPr>
            <a:r>
              <a:rPr lang="en-US" sz="1450" b="1" dirty="0">
                <a:solidFill>
                  <a:srgbClr val="67534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CategoryTable</a:t>
            </a:r>
            <a:endParaRPr lang="en-US" sz="1450" dirty="0"/>
          </a:p>
          <a:p>
            <a:pPr algn="l" marL="294640" indent="-294640">
              <a:lnSpc>
                <a:spcPct val="108000"/>
              </a:lnSpc>
              <a:buSzPct val="100000"/>
              <a:buChar char="•"/>
            </a:pPr>
            <a:r>
              <a:rPr 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Prevents target duplication; enables correct slicer behavior</a:t>
            </a:r>
            <a:endParaRPr lang="en-US" sz="1450" dirty="0"/>
          </a:p>
          <a:p>
            <a:pPr algn="l" marL="294640" indent="-294640">
              <a:lnSpc>
                <a:spcPct val="108000"/>
              </a:lnSpc>
              <a:buSzPct val="100000"/>
              <a:buChar char="•"/>
            </a:pPr>
            <a:r>
              <a:rPr 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Independent </a:t>
            </a:r>
            <a:pPr algn="l" marL="294640" indent="-294640">
              <a:lnSpc>
                <a:spcPct val="108000"/>
              </a:lnSpc>
              <a:buSzPct val="100000"/>
              <a:buChar char="•"/>
            </a:pPr>
            <a:r>
              <a:rPr lang="en-US" sz="1450" dirty="0">
                <a:solidFill>
                  <a:srgbClr val="67534F"/>
                </a:solidFill>
                <a:highlight>
                  <a:srgbClr val="F2F2E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_measures</a:t>
            </a:r>
            <a:pPr algn="l" marL="294640" indent="-294640">
              <a:lnSpc>
                <a:spcPct val="108000"/>
              </a:lnSpc>
              <a:buSzPct val="100000"/>
              <a:buChar char="•"/>
            </a:pPr>
            <a:r>
              <a:rPr 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table for all KPIs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332776" y="4565352"/>
            <a:ext cx="5203794" cy="1171575"/>
          </a:xfrm>
          <a:prstGeom prst="roundRect">
            <a:avLst>
              <a:gd name="adj" fmla="val 6776"/>
            </a:avLst>
          </a:prstGeom>
          <a:solidFill>
            <a:srgbClr val="FFE0CC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21783" y="4826695"/>
            <a:ext cx="236234" cy="18901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947024" y="4782641"/>
            <a:ext cx="4400539" cy="736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Grain awareness</a:t>
            </a:r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is the strongest lesson: always understand what one row represents before joining tables.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27248"/>
            <a:ext cx="902769" cy="206276"/>
          </a:xfrm>
          <a:prstGeom prst="roundRect">
            <a:avLst>
              <a:gd name="adj" fmla="val 22130"/>
            </a:avLst>
          </a:prstGeom>
          <a:solidFill>
            <a:srgbClr val="FFE0CC"/>
          </a:solidFill>
          <a:ln/>
        </p:spPr>
      </p:sp>
      <p:sp>
        <p:nvSpPr>
          <p:cNvPr id="3" name="Text 1"/>
          <p:cNvSpPr/>
          <p:nvPr/>
        </p:nvSpPr>
        <p:spPr>
          <a:xfrm>
            <a:off x="742931" y="567928"/>
            <a:ext cx="1349440" cy="124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DASHBOARD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61475" y="772517"/>
            <a:ext cx="10868745" cy="507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050" spc="-31" kern="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Power BI Dashboard Design</a:t>
            </a:r>
            <a:endParaRPr lang="en-US" sz="30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426766"/>
            <a:ext cx="7743830" cy="433893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61475" y="5875536"/>
            <a:ext cx="10868745" cy="4551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10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Three-page executive dashboard: </a:t>
            </a:r>
            <a:pPr algn="l" indent="0" marL="0">
              <a:lnSpc>
                <a:spcPct val="93000"/>
              </a:lnSpc>
              <a:buNone/>
            </a:pPr>
            <a:r>
              <a:rPr lang="en-US" sz="1050" b="1" dirty="0">
                <a:solidFill>
                  <a:srgbClr val="67534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Executive Sales Overview</a:t>
            </a:r>
            <a:pPr algn="l" indent="0" marL="0">
              <a:lnSpc>
                <a:spcPct val="93000"/>
              </a:lnSpc>
              <a:buNone/>
            </a:pPr>
            <a:r>
              <a:rPr lang="en-US" sz="10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(KPIs, category revenue, monthly trends, top states), </a:t>
            </a:r>
            <a:pPr algn="l" indent="0" marL="0">
              <a:lnSpc>
                <a:spcPct val="93000"/>
              </a:lnSpc>
              <a:buNone/>
            </a:pPr>
            <a:r>
              <a:rPr lang="en-US" sz="1050" b="1" dirty="0">
                <a:solidFill>
                  <a:srgbClr val="67534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Profitability &amp; Customer Analysis</a:t>
            </a:r>
            <a:pPr algn="l" indent="0" marL="0">
              <a:lnSpc>
                <a:spcPct val="93000"/>
              </a:lnSpc>
              <a:buNone/>
            </a:pPr>
            <a:r>
              <a:rPr lang="en-US" sz="10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(sub-category profit, margins, repeat vs one-time), and </a:t>
            </a:r>
            <a:pPr algn="l" indent="0" marL="0">
              <a:lnSpc>
                <a:spcPct val="93000"/>
              </a:lnSpc>
              <a:buNone/>
            </a:pPr>
            <a:r>
              <a:rPr lang="en-US" sz="1050" b="1" dirty="0">
                <a:solidFill>
                  <a:srgbClr val="67534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Target &amp; Performance</a:t>
            </a:r>
            <a:pPr algn="l" indent="0" marL="0">
              <a:lnSpc>
                <a:spcPct val="93000"/>
              </a:lnSpc>
              <a:buNone/>
            </a:pPr>
            <a:r>
              <a:rPr lang="en-US" sz="10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(actual vs target, achievement %, variance). Slicers: Date, State, Category, Sub-Category, Customer Type.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361976"/>
            <a:ext cx="2826771" cy="287139"/>
          </a:xfrm>
          <a:prstGeom prst="roundRect">
            <a:avLst>
              <a:gd name="adj" fmla="val 22118"/>
            </a:avLst>
          </a:prstGeom>
          <a:solidFill>
            <a:srgbClr val="FFE0CC"/>
          </a:solidFill>
          <a:ln/>
        </p:spPr>
      </p:sp>
      <p:sp>
        <p:nvSpPr>
          <p:cNvPr id="3" name="Text 1"/>
          <p:cNvSpPr/>
          <p:nvPr/>
        </p:nvSpPr>
        <p:spPr>
          <a:xfrm>
            <a:off x="774879" y="1418630"/>
            <a:ext cx="3209547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FINDINGS &amp; RECOMMENDATIONS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724720"/>
            <a:ext cx="10868745" cy="706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250" spc="-43" kern="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Key Insights &amp; Next Steps</a:t>
            </a:r>
            <a:endParaRPr lang="en-US" sz="4250" dirty="0"/>
          </a:p>
        </p:txBody>
      </p:sp>
      <p:sp>
        <p:nvSpPr>
          <p:cNvPr id="5" name="Text 3"/>
          <p:cNvSpPr/>
          <p:nvPr/>
        </p:nvSpPr>
        <p:spPr>
          <a:xfrm>
            <a:off x="661475" y="2903637"/>
            <a:ext cx="5203794" cy="353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spc="-21" kern="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Key Findings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661475" y="3445867"/>
            <a:ext cx="5203794" cy="19839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08000"/>
              </a:lnSpc>
              <a:buSzPct val="100000"/>
              <a:buChar char="•"/>
            </a:pPr>
            <a:r>
              <a:rPr 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Electronics leads revenue &amp; target; Clothing leads profit &amp; margin</a:t>
            </a:r>
            <a:endParaRPr lang="en-US" sz="1450" dirty="0"/>
          </a:p>
          <a:p>
            <a:pPr algn="l" marL="294640" indent="-294640">
              <a:lnSpc>
                <a:spcPct val="108000"/>
              </a:lnSpc>
              <a:buSzPct val="100000"/>
              <a:buChar char="•"/>
            </a:pPr>
            <a:r>
              <a:rPr 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Furniture: ₹127K revenue, only 1.81% margin</a:t>
            </a:r>
            <a:endParaRPr lang="en-US" sz="1450" dirty="0"/>
          </a:p>
          <a:p>
            <a:pPr algn="l" marL="294640" indent="-294640">
              <a:lnSpc>
                <a:spcPct val="108000"/>
              </a:lnSpc>
              <a:buSzPct val="100000"/>
              <a:buChar char="•"/>
            </a:pPr>
            <a:r>
              <a:rPr 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Tables: largest loss (−₹4,011); Electronic Games: −₹1,236</a:t>
            </a:r>
            <a:endParaRPr lang="en-US" sz="1450" dirty="0"/>
          </a:p>
          <a:p>
            <a:pPr algn="l" marL="294640" indent="-294640">
              <a:lnSpc>
                <a:spcPct val="108000"/>
              </a:lnSpc>
              <a:buSzPct val="100000"/>
              <a:buChar char="•"/>
            </a:pPr>
            <a:r>
              <a:rPr 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June 2018 worst profit month (−₹4,970)</a:t>
            </a:r>
            <a:endParaRPr lang="en-US" sz="1450" dirty="0"/>
          </a:p>
          <a:p>
            <a:pPr algn="l" marL="294640" indent="-294640">
              <a:lnSpc>
                <a:spcPct val="108000"/>
              </a:lnSpc>
              <a:buSzPct val="100000"/>
              <a:buChar char="•"/>
            </a:pPr>
            <a:r>
              <a:rPr 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Repeat customers: 5.79× more profit per customer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332776" y="2903637"/>
            <a:ext cx="5203794" cy="353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spc="-21" kern="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Recommendations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6332776" y="3445867"/>
            <a:ext cx="5203794" cy="19839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08000"/>
              </a:lnSpc>
              <a:buSzPct val="100000"/>
              <a:buChar char="•"/>
            </a:pPr>
            <a:r>
              <a:rPr 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Investigate Tables &amp; Electronic Games at transaction level</a:t>
            </a:r>
            <a:endParaRPr lang="en-US" sz="1450" dirty="0"/>
          </a:p>
          <a:p>
            <a:pPr algn="l" marL="294640" indent="-294640">
              <a:lnSpc>
                <a:spcPct val="108000"/>
              </a:lnSpc>
              <a:buSzPct val="100000"/>
              <a:buChar char="•"/>
            </a:pPr>
            <a:r>
              <a:rPr 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Review Furniture pricing and cost structure</a:t>
            </a:r>
            <a:endParaRPr lang="en-US" sz="1450" dirty="0"/>
          </a:p>
          <a:p>
            <a:pPr algn="l" marL="294640" indent="-294640">
              <a:lnSpc>
                <a:spcPct val="108000"/>
              </a:lnSpc>
              <a:buSzPct val="100000"/>
              <a:buChar char="•"/>
            </a:pPr>
            <a:r>
              <a:rPr 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Strengthen repeat-customer retention programs</a:t>
            </a:r>
            <a:endParaRPr lang="en-US" sz="1450" dirty="0"/>
          </a:p>
          <a:p>
            <a:pPr algn="l" marL="294640" indent="-294640">
              <a:lnSpc>
                <a:spcPct val="108000"/>
              </a:lnSpc>
              <a:buSzPct val="100000"/>
              <a:buChar char="•"/>
            </a:pPr>
            <a:r>
              <a:rPr 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Improve Clothing target planning (July was 21.29%)</a:t>
            </a:r>
            <a:endParaRPr lang="en-US" sz="1450" dirty="0"/>
          </a:p>
          <a:p>
            <a:pPr algn="l" marL="294640" indent="-294640">
              <a:lnSpc>
                <a:spcPct val="108000"/>
              </a:lnSpc>
              <a:buSzPct val="100000"/>
              <a:buChar char="•"/>
            </a:pPr>
            <a:r>
              <a:rPr 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Always display revenue </a:t>
            </a:r>
            <a:pPr algn="l" marL="294640" indent="-294640">
              <a:lnSpc>
                <a:spcPct val="108000"/>
              </a:lnSpc>
              <a:buSzPct val="100000"/>
              <a:buChar char="•"/>
            </a:pPr>
            <a:r>
              <a:rPr lang="en-US" sz="1450" b="1" dirty="0">
                <a:solidFill>
                  <a:srgbClr val="67534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with</a:t>
            </a:r>
            <a:pPr algn="l" marL="294640" indent="-294640">
              <a:lnSpc>
                <a:spcPct val="108000"/>
              </a:lnSpc>
              <a:buSzPct val="100000"/>
              <a:buChar char="•"/>
            </a:pPr>
            <a:r>
              <a:rPr 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profit and margin on dashboards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2026-09-06T18:24:45Z</dcterms:created>
  <dcterms:modified xsi:type="dcterms:W3CDTF">2026-09-06T18:24:45Z</dcterms:modified>
</cp:coreProperties>
</file>